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2MxHPguPGCNELhGjUSMnRJhGT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137"/>
                </a:solidFill>
                <a:latin typeface="Arial"/>
              </a:rPr>
              <a:t>Comparaison F1 vs AUC — 3 modèles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Macro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Rég. Log.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0.8</c:v>
                </c:pt>
                <c:pt idx="2">
                  <c:v>0.81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E8B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Rég. Log.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0.9</c:v>
                </c:pt>
                <c:pt idx="2">
                  <c:v>0.89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A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D6ED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137"/>
                </a:solidFill>
                <a:latin typeface="Arial"/>
              </a:rPr>
              <a:t>Top 10 Features — SHAP (XGBoost)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SHAP</c:v>
                </c:pt>
              </c:strCache>
            </c:strRef>
          </c:tx>
          <c:spPr>
            <a:solidFill>
              <a:srgbClr val="1E5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anciennete_amm</c:v>
                  </c:pt>
                  <c:pt idx="1">
                    <c:v>laboratoire_enc</c:v>
                  </c:pt>
                  <c:pt idx="2">
                    <c:v>forme_enc</c:v>
                  </c:pt>
                  <c:pt idx="3">
                    <c:v>veic_enc</c:v>
                  </c:pt>
                  <c:pt idx="4">
                    <c:v>dci_enc</c:v>
                  </c:pt>
                  <c:pt idx="5">
                    <c:v>presentation_qte</c:v>
                  </c:pt>
                  <c:pt idx="6">
                    <c:v>dosage_valeur</c:v>
                  </c:pt>
                  <c:pt idx="7">
                    <c:v>nb_amm_dci</c:v>
                  </c:pt>
                  <c:pt idx="8">
                    <c:v>duree_conservation_mois</c:v>
                  </c:pt>
                  <c:pt idx="9">
                    <c:v>nb_fabricants_dci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0.22</c:v>
                </c:pt>
                <c:pt idx="1">
                  <c:v>0.18</c:v>
                </c:pt>
                <c:pt idx="2">
                  <c:v>0.15</c:v>
                </c:pt>
                <c:pt idx="3">
                  <c:v>0.12</c:v>
                </c:pt>
                <c:pt idx="4">
                  <c:v>0.11</c:v>
                </c:pt>
                <c:pt idx="5">
                  <c:v>0.09</c:v>
                </c:pt>
                <c:pt idx="6">
                  <c:v>0.09</c:v>
                </c:pt>
                <c:pt idx="7">
                  <c:v>0.08</c:v>
                </c:pt>
                <c:pt idx="8">
                  <c:v>0.07</c:v>
                </c:pt>
                <c:pt idx="9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6ED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3A5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1A3A5C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457200"/>
            <a:ext cx="1097280" cy="1097280"/>
          </a:xfrm>
          <a:prstGeom prst="ellipse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💊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1223325"/>
            <a:ext cx="32919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Prédiction du Risque 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 des Médicaments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2510724"/>
            <a:ext cx="3291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en Tunisie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50" y="2916900"/>
            <a:ext cx="2560200" cy="549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" y="4698650"/>
            <a:ext cx="3291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Projet Machine Learning — Classification Binaire Supervisée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160520" y="1645920"/>
            <a:ext cx="1143000" cy="15544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160520" y="1645920"/>
            <a:ext cx="1143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160520" y="1719072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6 053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160520" y="2377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Médicaments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22392" y="1645920"/>
            <a:ext cx="1143000" cy="15544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422392" y="1645920"/>
            <a:ext cx="1143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422392" y="1719072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22392" y="2377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Non distribués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en pharmacie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684264" y="1645920"/>
            <a:ext cx="1143000" cy="15544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684264" y="1645920"/>
            <a:ext cx="1143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684264" y="1719072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684264" y="2377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Algorithmes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ML comparés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946136" y="1645920"/>
            <a:ext cx="1143000" cy="15544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946136" y="1645920"/>
            <a:ext cx="1143000" cy="54864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946136" y="1719072"/>
            <a:ext cx="1143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946136" y="2377440"/>
            <a:ext cx="1143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160520" y="3383280"/>
            <a:ext cx="2377440" cy="347472"/>
          </a:xfrm>
          <a:prstGeom prst="rect">
            <a:avLst/>
          </a:prstGeom>
          <a:solidFill>
            <a:srgbClr val="1A3A5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4251960" y="33832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01 — Problème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160520" y="3803904"/>
            <a:ext cx="2377440" cy="347472"/>
          </a:xfrm>
          <a:prstGeom prst="rect">
            <a:avLst/>
          </a:prstGeom>
          <a:solidFill>
            <a:srgbClr val="1A3A5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4251960" y="380390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02 — EDA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160520" y="4224528"/>
            <a:ext cx="2377440" cy="347472"/>
          </a:xfrm>
          <a:prstGeom prst="rect">
            <a:avLst/>
          </a:prstGeom>
          <a:solidFill>
            <a:srgbClr val="1A3A5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4251960" y="422452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03 — Prétraitement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4160520" y="4645152"/>
            <a:ext cx="2377440" cy="347472"/>
          </a:xfrm>
          <a:prstGeom prst="rect">
            <a:avLst/>
          </a:prstGeom>
          <a:solidFill>
            <a:srgbClr val="1A3A5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4251960" y="464515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04 — Algorithmes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6675120" y="3383280"/>
            <a:ext cx="2377440" cy="347472"/>
          </a:xfrm>
          <a:prstGeom prst="rect">
            <a:avLst/>
          </a:prstGeom>
          <a:solidFill>
            <a:srgbClr val="1A3A5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6766560" y="33832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05 — Métriques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675120" y="3803904"/>
            <a:ext cx="2377440" cy="347472"/>
          </a:xfrm>
          <a:prstGeom prst="rect">
            <a:avLst/>
          </a:prstGeom>
          <a:solidFill>
            <a:srgbClr val="1A3A5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6766560" y="380390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06 — Résultats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675120" y="4224528"/>
            <a:ext cx="2377440" cy="347472"/>
          </a:xfrm>
          <a:prstGeom prst="rect">
            <a:avLst/>
          </a:prstGeom>
          <a:solidFill>
            <a:srgbClr val="1A3A5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6766560" y="422452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07 — SHAP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777250" y="4485153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457197" y="3661553"/>
            <a:ext cx="29346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1" lang="en-US" sz="1350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Présentée par:Ferdaous Ben Taleb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274320" y="164592"/>
            <a:ext cx="8595360" cy="73152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— Définition du Problème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256032" y="1115568"/>
            <a:ext cx="2057400" cy="102412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56032" y="1115568"/>
            <a:ext cx="2057400" cy="64008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256032" y="118872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B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7DB5"/>
                </a:solidFill>
                <a:latin typeface="Calibri"/>
                <a:ea typeface="Calibri"/>
                <a:cs typeface="Calibri"/>
                <a:sym typeface="Calibri"/>
              </a:rPr>
              <a:t>6 053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29184" y="1664208"/>
            <a:ext cx="1901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Médicaments autorisés (AMM)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478024" y="1115568"/>
            <a:ext cx="2057400" cy="102412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2478024" y="1115568"/>
            <a:ext cx="2057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2478024" y="118872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4 358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551176" y="1664208"/>
            <a:ext cx="1901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Distribués en pharmacie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700016" y="1115568"/>
            <a:ext cx="2057400" cy="102412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700016" y="1115568"/>
            <a:ext cx="205740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700016" y="118872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1 695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773168" y="1664208"/>
            <a:ext cx="1901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Jamais distribués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922008" y="1115568"/>
            <a:ext cx="2057400" cy="102412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6922008" y="1115568"/>
            <a:ext cx="2057400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6922008" y="118872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995160" y="1664208"/>
            <a:ext cx="1901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Taux non-distribution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56032" y="2240280"/>
            <a:ext cx="6336792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347472" y="2240280"/>
            <a:ext cx="6153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Distribués — 72% (4 358)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629400" y="2240280"/>
            <a:ext cx="225856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6656832" y="224028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 dist. 28%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56032" y="2743200"/>
            <a:ext cx="4937760" cy="960120"/>
          </a:xfrm>
          <a:prstGeom prst="rect">
            <a:avLst/>
          </a:prstGeom>
          <a:solidFill>
            <a:srgbClr val="1E508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256032" y="2743200"/>
            <a:ext cx="4937760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384048" y="2816352"/>
            <a:ext cx="4663440" cy="292608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🎯  Objectif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274325" y="3108950"/>
            <a:ext cx="4899000" cy="59430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binaire supervisée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reaches_pharmacy = 1 (distribué) ou 0 (non distribué)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256032" y="3794760"/>
            <a:ext cx="1353312" cy="384048"/>
          </a:xfrm>
          <a:prstGeom prst="roundRect">
            <a:avLst>
              <a:gd fmla="val 11905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256032" y="379476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Scraping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1591056" y="3794760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719072" y="3794760"/>
            <a:ext cx="1353312" cy="384048"/>
          </a:xfrm>
          <a:prstGeom prst="roundRect">
            <a:avLst>
              <a:gd fmla="val 11905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719072" y="379476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054096" y="3794760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182112" y="3794760"/>
            <a:ext cx="1353312" cy="384048"/>
          </a:xfrm>
          <a:prstGeom prst="roundRect">
            <a:avLst>
              <a:gd fmla="val 11905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3182112" y="379476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Prétraitement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517136" y="3794760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4645152" y="3794760"/>
            <a:ext cx="1353312" cy="384048"/>
          </a:xfrm>
          <a:prstGeom prst="roundRect">
            <a:avLst>
              <a:gd fmla="val 11905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645152" y="379476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980176" y="3794760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108192" y="3794760"/>
            <a:ext cx="1353312" cy="384048"/>
          </a:xfrm>
          <a:prstGeom prst="roundRect">
            <a:avLst>
              <a:gd fmla="val 11905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108192" y="379476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Modélisation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7443216" y="3794760"/>
            <a:ext cx="1463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571232" y="3794760"/>
            <a:ext cx="1353312" cy="384048"/>
          </a:xfrm>
          <a:prstGeom prst="roundRect">
            <a:avLst>
              <a:gd fmla="val 11905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571232" y="3794760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504700" y="2743200"/>
            <a:ext cx="3383400" cy="960000"/>
          </a:xfrm>
          <a:prstGeom prst="rect">
            <a:avLst/>
          </a:prstGeom>
          <a:solidFill>
            <a:srgbClr val="1E508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5376675" y="2743200"/>
            <a:ext cx="73200" cy="960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504700" y="2807205"/>
            <a:ext cx="3310200" cy="10290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💡  Cas d'usage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504700" y="2971850"/>
            <a:ext cx="3383400" cy="73140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Un labo obtient l'AMM mais ne sait pas si son médicament sera distribué.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Ce modèle prédit ce risque AVANT la commercialisation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à partir des 27 caractéristiques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256032" y="4279392"/>
            <a:ext cx="8631936" cy="68580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347472" y="4315968"/>
            <a:ext cx="8449056" cy="59436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⚠️  1 695 médicaments autorisés par l'État ne sont jamais distribués en pharmacie → Déséquilibre 72/28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Justifie l'utilisation du SMOTE + F1-Score Macro comme métrique principale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274320" y="164592"/>
            <a:ext cx="8595360" cy="73152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— EDA — Ce qu'on a découvert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74320" y="1170432"/>
            <a:ext cx="4187952" cy="17830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274320" y="1170432"/>
            <a:ext cx="4187952" cy="6400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384048" y="1298448"/>
            <a:ext cx="566928" cy="566928"/>
          </a:xfrm>
          <a:prstGeom prst="ellipse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384048" y="12984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💉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987552" y="126187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-0.24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384048" y="18836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est_injectable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84048" y="2157984"/>
            <a:ext cx="3931920" cy="27432"/>
          </a:xfrm>
          <a:prstGeom prst="rect">
            <a:avLst/>
          </a:prstGeom>
          <a:solidFill>
            <a:srgbClr val="5BA3D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384048" y="2203704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Feature LA PLUS discriminante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Injectables → hôpital uniquement → jamais en pharmacie de ville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736592" y="1170432"/>
            <a:ext cx="4187952" cy="1783080"/>
          </a:xfrm>
          <a:prstGeom prst="rect">
            <a:avLst/>
          </a:prstGeom>
          <a:solidFill>
            <a:srgbClr val="1E508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4736592" y="1170432"/>
            <a:ext cx="4187952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846320" y="1298448"/>
            <a:ext cx="566928" cy="566928"/>
          </a:xfrm>
          <a:prstGeom prst="ellipse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846320" y="12984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449824" y="1261872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79%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846320" y="18836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veic = Essentiel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846320" y="2157984"/>
            <a:ext cx="3931920" cy="27432"/>
          </a:xfrm>
          <a:prstGeom prst="rect">
            <a:avLst/>
          </a:prstGeom>
          <a:solidFill>
            <a:srgbClr val="E8B84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4846320" y="2203704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79% distribués vs VEIC Vital seulement 47%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Paradoxe : Vital = hospitalier → moins distribué en pharmacie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74320" y="3108960"/>
            <a:ext cx="4187952" cy="17830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74320" y="3108960"/>
            <a:ext cx="4187952" cy="6400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384048" y="3236976"/>
            <a:ext cx="566928" cy="566928"/>
          </a:xfrm>
          <a:prstGeom prst="ellipse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384048" y="32369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87552" y="320040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17%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84048" y="38221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Anticancéreux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84048" y="4096512"/>
            <a:ext cx="3931920" cy="27432"/>
          </a:xfrm>
          <a:prstGeom prst="rect">
            <a:avLst/>
          </a:prstGeom>
          <a:solidFill>
            <a:srgbClr val="5BA3D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84048" y="414223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Classe la moins distribuée en pharmacie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Traitement exclusivement hospitalier — non accessible sans ordo spéciale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4736592" y="3108960"/>
            <a:ext cx="4187952" cy="1783080"/>
          </a:xfrm>
          <a:prstGeom prst="rect">
            <a:avLst/>
          </a:prstGeom>
          <a:solidFill>
            <a:srgbClr val="1E508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4736592" y="3108960"/>
            <a:ext cx="4187952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4846320" y="3236976"/>
            <a:ext cx="566928" cy="566928"/>
          </a:xfrm>
          <a:prstGeom prst="ellipse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4846320" y="32369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5449824" y="320040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≈100%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846320" y="38221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Maladie chronique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4846320" y="4096512"/>
            <a:ext cx="3931920" cy="27432"/>
          </a:xfrm>
          <a:prstGeom prst="rect">
            <a:avLst/>
          </a:prstGeom>
          <a:solidFill>
            <a:srgbClr val="E8B84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4846320" y="414223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Demande mensuelle régulière garantie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Toujours en stock → quasi 100% des médicaments chroniques distribués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274320" y="164592"/>
            <a:ext cx="8595360" cy="73152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— Prétraitement &amp; Feature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256032" y="1252728"/>
            <a:ext cx="548640" cy="548640"/>
          </a:xfrm>
          <a:prstGeom prst="ellipse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256032" y="1252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07492" y="1801368"/>
            <a:ext cx="54864" cy="18288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960120" y="1161288"/>
            <a:ext cx="7863840" cy="685800"/>
          </a:xfrm>
          <a:prstGeom prst="rect">
            <a:avLst/>
          </a:prstGeom>
          <a:solidFill>
            <a:srgbClr val="5BA3D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960120" y="1161288"/>
            <a:ext cx="73152" cy="68580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1078992" y="1289304"/>
            <a:ext cx="429768" cy="429768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078992" y="1289304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572768" y="121615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Nettoyage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572768" y="1508760"/>
            <a:ext cx="5029200" cy="27432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Doublons ×6 · Imputation NaN · Colonnes supprimées : amm, nom, hhi_dci, indications, date_amm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656832" y="1271016"/>
            <a:ext cx="2121408" cy="457200"/>
          </a:xfrm>
          <a:prstGeom prst="roundRect">
            <a:avLst>
              <a:gd fmla="val 10000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6675120" y="1271016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Données propres = modèle fiable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256032" y="2011680"/>
            <a:ext cx="548640" cy="548640"/>
          </a:xfrm>
          <a:prstGeom prst="ellipse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256032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507492" y="2560320"/>
            <a:ext cx="54864" cy="18288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960120" y="1920240"/>
            <a:ext cx="7863840" cy="685800"/>
          </a:xfrm>
          <a:prstGeom prst="rect">
            <a:avLst/>
          </a:prstGeom>
          <a:solidFill>
            <a:srgbClr val="5BA3D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960120" y="1920240"/>
            <a:ext cx="73152" cy="6858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1078992" y="2048256"/>
            <a:ext cx="429768" cy="429768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1078992" y="2048256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572768" y="197510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572768" y="2267712"/>
            <a:ext cx="5029200" cy="27432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vital_et_injectable (avant encodage) · monopole · ratio_generique (après split sur X_train uniquement)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656832" y="2029968"/>
            <a:ext cx="2121408" cy="457200"/>
          </a:xfrm>
          <a:prstGeom prst="roundRect">
            <a:avLst>
              <a:gd fmla="val 10000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6675120" y="2029968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3 nouvelles variables créées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256032" y="2770632"/>
            <a:ext cx="548640" cy="548640"/>
          </a:xfrm>
          <a:prstGeom prst="ellipse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256032" y="27706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07492" y="3319272"/>
            <a:ext cx="54864" cy="18288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960120" y="2679192"/>
            <a:ext cx="7863840" cy="685800"/>
          </a:xfrm>
          <a:prstGeom prst="rect">
            <a:avLst/>
          </a:prstGeom>
          <a:solidFill>
            <a:srgbClr val="5BA3D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960120" y="2679192"/>
            <a:ext cx="73152" cy="68580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1078992" y="2807208"/>
            <a:ext cx="429768" cy="429768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1078992" y="2807208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572768" y="2734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1572768" y="3026664"/>
            <a:ext cx="5029200" cy="27432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Ordinal → veic (Confort=0, Vital=3) · One-Hot → gp_status · Label Encoding → classe, forme, dci...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6656832" y="2788920"/>
            <a:ext cx="2121408" cy="457200"/>
          </a:xfrm>
          <a:prstGeom prst="roundRect">
            <a:avLst>
              <a:gd fmla="val 10000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675120" y="2788920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ML ne comprend que des chiffres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256032" y="3529584"/>
            <a:ext cx="548640" cy="548640"/>
          </a:xfrm>
          <a:prstGeom prst="ellipse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256032" y="35295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507492" y="4078224"/>
            <a:ext cx="54864" cy="18288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960120" y="3438144"/>
            <a:ext cx="7863840" cy="685800"/>
          </a:xfrm>
          <a:prstGeom prst="rect">
            <a:avLst/>
          </a:prstGeom>
          <a:solidFill>
            <a:srgbClr val="5BA3D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960120" y="3438144"/>
            <a:ext cx="73152" cy="685800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1078992" y="3566160"/>
            <a:ext cx="429768" cy="429768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1078992" y="3566160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572768" y="349300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 80/20 + SMOTE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1572768" y="3785616"/>
            <a:ext cx="5029200" cy="27432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Train: 4842 → 7018 médicaments après SMOTE · Test: 1211 intact (données réelles) · stratify=y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6656832" y="3547872"/>
            <a:ext cx="2121408" cy="457200"/>
          </a:xfrm>
          <a:prstGeom prst="roundRect">
            <a:avLst>
              <a:gd fmla="val 10000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6675120" y="3547872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SMOTE sur train uniquement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256032" y="4288536"/>
            <a:ext cx="548640" cy="548640"/>
          </a:xfrm>
          <a:prstGeom prst="ellipse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256032" y="428853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960120" y="4197096"/>
            <a:ext cx="7863840" cy="685800"/>
          </a:xfrm>
          <a:prstGeom prst="rect">
            <a:avLst/>
          </a:prstGeom>
          <a:solidFill>
            <a:srgbClr val="5BA3D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960120" y="4197096"/>
            <a:ext cx="73152" cy="68580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1078992" y="4325112"/>
            <a:ext cx="429768" cy="429768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1078992" y="4325112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1572768" y="425196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Normalisation StandardScaler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1572768" y="4544568"/>
            <a:ext cx="5029200" cy="27432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fit_transform sur X_train_sm uniquement · transform seulement sur X_test → anti data leakage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6656832" y="4306824"/>
            <a:ext cx="2121408" cy="457200"/>
          </a:xfrm>
          <a:prstGeom prst="roundRect">
            <a:avLst>
              <a:gd fmla="val 10000" name="adj"/>
            </a:avLst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6675120" y="4306824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fit train, transform test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274320" y="164592"/>
            <a:ext cx="8595360" cy="73152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— Les 3 Algorithmes Comparés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201168" y="1143000"/>
            <a:ext cx="2788920" cy="379476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201168" y="1143000"/>
            <a:ext cx="2788920" cy="6400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292608" y="1234440"/>
            <a:ext cx="1051560" cy="274320"/>
          </a:xfrm>
          <a:prstGeom prst="roundRect">
            <a:avLst>
              <a:gd fmla="val 13333" name="adj"/>
            </a:avLst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292608" y="12344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1133856" y="1572768"/>
            <a:ext cx="914400" cy="91440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1133856" y="157276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92608" y="2542032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292608" y="30815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Linéaire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365760" y="3364992"/>
            <a:ext cx="2450592" cy="27432"/>
          </a:xfrm>
          <a:prstGeom prst="rect">
            <a:avLst/>
          </a:prstGeom>
          <a:solidFill>
            <a:srgbClr val="5BA3D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292608" y="3410712"/>
            <a:ext cx="2606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Calcule un POIDS pour chaque feature.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Somme des poids → probabilité 0 à 1.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Seuil 0.5 → distribué ou non.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292608" y="4133088"/>
            <a:ext cx="2606040" cy="502920"/>
          </a:xfrm>
          <a:prstGeom prst="rect">
            <a:avLst/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292608" y="413308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D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A3D0"/>
                </a:solidFill>
                <a:latin typeface="Calibri"/>
                <a:ea typeface="Calibri"/>
                <a:cs typeface="Calibri"/>
                <a:sym typeface="Calibri"/>
              </a:rPr>
              <a:t>F1: 0.62   AUC: 0.68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3191256" y="1143000"/>
            <a:ext cx="2788920" cy="3794760"/>
          </a:xfrm>
          <a:prstGeom prst="rect">
            <a:avLst/>
          </a:prstGeom>
          <a:solidFill>
            <a:srgbClr val="1E508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3191256" y="1143000"/>
            <a:ext cx="2788920" cy="64008"/>
          </a:xfrm>
          <a:prstGeom prst="rect">
            <a:avLst/>
          </a:prstGeom>
          <a:solidFill>
            <a:srgbClr val="A8D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3282696" y="1234440"/>
            <a:ext cx="1051560" cy="274320"/>
          </a:xfrm>
          <a:prstGeom prst="roundRect">
            <a:avLst>
              <a:gd fmla="val 13333" name="adj"/>
            </a:avLst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3282696" y="12344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Bagging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123944" y="1572768"/>
            <a:ext cx="914400" cy="91440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4123944" y="157276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282696" y="2542032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3282696" y="30815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Ensembliste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355848" y="3364992"/>
            <a:ext cx="2450592" cy="27432"/>
          </a:xfrm>
          <a:prstGeom prst="rect">
            <a:avLst/>
          </a:prstGeom>
          <a:solidFill>
            <a:srgbClr val="A8D4EE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3282696" y="3410712"/>
            <a:ext cx="2606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200 arbres en PARALLÈLE (bagging).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Chaque arbre vote sur échantillon différent.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Majorité → prédiction finale.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282696" y="4133088"/>
            <a:ext cx="2606040" cy="502920"/>
          </a:xfrm>
          <a:prstGeom prst="rect">
            <a:avLst/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3282696" y="413308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F1: 0.80   AUC: 0.90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181344" y="1143000"/>
            <a:ext cx="2788920" cy="3794760"/>
          </a:xfrm>
          <a:prstGeom prst="rect">
            <a:avLst/>
          </a:prstGeom>
          <a:solidFill>
            <a:srgbClr val="0D2137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6181344" y="1143000"/>
            <a:ext cx="2788920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6272784" y="1234440"/>
            <a:ext cx="1051560" cy="274320"/>
          </a:xfrm>
          <a:prstGeom prst="roundRect">
            <a:avLst>
              <a:gd fmla="val 13333" name="adj"/>
            </a:avLst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6272784" y="12344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★ Meilleur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7114032" y="1572768"/>
            <a:ext cx="914400" cy="91440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7114032" y="157276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6272784" y="2542032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6272784" y="30815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6345936" y="3364992"/>
            <a:ext cx="2450592" cy="27432"/>
          </a:xfrm>
          <a:prstGeom prst="rect">
            <a:avLst/>
          </a:prstGeom>
          <a:solidFill>
            <a:srgbClr val="E8B84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6272784" y="3410712"/>
            <a:ext cx="2606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Arbres SÉQUENTIELS (boosting).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Arbre N corrige les erreurs de l'arbre N-1.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Optimisé par RandomizedSearchCV.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6272784" y="4133088"/>
            <a:ext cx="2606040" cy="502920"/>
          </a:xfrm>
          <a:prstGeom prst="rect">
            <a:avLst/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6272784" y="413308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F1: 0.81   AUC: 0.89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0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E5080"/>
                </a:solidFill>
                <a:latin typeface="Calibri"/>
                <a:ea typeface="Calibri"/>
                <a:cs typeface="Calibri"/>
                <a:sym typeface="Calibri"/>
              </a:rPr>
              <a:t>🔍  RandomizedSearchCV : teste 20 combinaisons de paramètres × 5-fold CV — 20× plus rapide que GridSearch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274320" y="164592"/>
            <a:ext cx="8595360" cy="73152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— Métriques d'Évaluation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274320" y="1143000"/>
            <a:ext cx="73152" cy="658368"/>
          </a:xfrm>
          <a:prstGeom prst="rect">
            <a:avLst/>
          </a:prstGeom>
          <a:solidFill>
            <a:srgbClr val="5BA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457200" y="11704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❌  Accuracy non utilisée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457200" y="144475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Un modèle qui prédit toujours distribué obtient 72% d'accuracy SANS rien apprendre → trompeuse avec classes déséquilibrées 72/28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274320" y="1901952"/>
            <a:ext cx="4160520" cy="22402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274320" y="1901952"/>
            <a:ext cx="4160520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411480" y="199339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📊  F1-Score MACRO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411480" y="2395728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Formule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11480" y="2633472"/>
            <a:ext cx="3886200" cy="50292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457200" y="265176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onsolas"/>
                <a:ea typeface="Consolas"/>
                <a:cs typeface="Consolas"/>
                <a:sym typeface="Consolas"/>
              </a:rPr>
              <a:t>F1 = 2×(Precision×Recall)/(Precision+Recall)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4EE"/>
                </a:solidFill>
                <a:latin typeface="Consolas"/>
                <a:ea typeface="Consolas"/>
                <a:cs typeface="Consolas"/>
                <a:sym typeface="Consolas"/>
              </a:rPr>
              <a:t>F1 Macro = (F1 classe 0 + F1 classe 1) 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411480" y="3182112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Traite les 2 classes à égalité malgré 72/28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Révèle si le modèle ignore la classe minoritaire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411480" y="3749040"/>
            <a:ext cx="3886200" cy="292608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457200" y="37673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: F1 Macro = 0.81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617720" y="1901952"/>
            <a:ext cx="4160520" cy="224028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617720" y="1901952"/>
            <a:ext cx="4160520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4754880" y="199339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📈  AUC-ROC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4754880" y="2395728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 complet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754880" y="2633472"/>
            <a:ext cx="388620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4800600" y="265176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Area Under the Receiver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8D4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8D4EE"/>
                </a:solidFill>
                <a:latin typeface="Calibri"/>
                <a:ea typeface="Calibri"/>
                <a:cs typeface="Calibri"/>
                <a:sym typeface="Calibri"/>
              </a:rPr>
              <a:t>Operating Characteristic Curve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4754880" y="3182112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Teste TOUS les seuils (0 à 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Mesure la capacité à séparer les 2 classes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0.5 = aléatoire  ·  1.0 = parfait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754880" y="3749040"/>
            <a:ext cx="3886200" cy="292608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4800600" y="376732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: AUC-ROC = 0.891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274320" y="4133088"/>
            <a:ext cx="8595360" cy="777240"/>
          </a:xfrm>
          <a:prstGeom prst="rect">
            <a:avLst/>
          </a:prstGeom>
          <a:solidFill>
            <a:srgbClr val="2E7DB5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11480" y="41788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Différence clé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11480" y="4425696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F1 = photo à un instant précis avec le seuil FIXE 0.5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AUC = film complet — teste TOUS les seuils de 0 à 1 — vision globale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274320" y="164592"/>
            <a:ext cx="8595360" cy="731520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— Résultats &amp; Matrice de Confusion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9" name="Google Shape;309;p7"/>
          <p:cNvGraphicFramePr/>
          <p:nvPr/>
        </p:nvGraphicFramePr>
        <p:xfrm>
          <a:off x="274320" y="1170432"/>
          <a:ext cx="5029200" cy="2514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10" name="Google Shape;310;p7"/>
          <p:cNvSpPr/>
          <p:nvPr/>
        </p:nvSpPr>
        <p:spPr>
          <a:xfrm>
            <a:off x="5486400" y="1170432"/>
            <a:ext cx="3337560" cy="384048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5486475" y="1170425"/>
            <a:ext cx="3337500" cy="41160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Matrice Confusion — XGBoost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6035040" y="160934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0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5080"/>
                </a:solidFill>
                <a:latin typeface="Calibri"/>
                <a:ea typeface="Calibri"/>
                <a:cs typeface="Calibri"/>
                <a:sym typeface="Calibri"/>
              </a:rPr>
              <a:t>Prédit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7406640" y="160934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B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B5"/>
                </a:solidFill>
                <a:latin typeface="Calibri"/>
                <a:ea typeface="Calibri"/>
                <a:cs typeface="Calibri"/>
                <a:sym typeface="Calibri"/>
              </a:rPr>
              <a:t>Prédit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468112" y="1901952"/>
            <a:ext cx="5303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0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5080"/>
                </a:solidFill>
                <a:latin typeface="Calibri"/>
                <a:ea typeface="Calibri"/>
                <a:cs typeface="Calibri"/>
                <a:sym typeface="Calibri"/>
              </a:rPr>
              <a:t>Réel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468112" y="2670048"/>
            <a:ext cx="5303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B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B5"/>
                </a:solidFill>
                <a:latin typeface="Calibri"/>
                <a:ea typeface="Calibri"/>
                <a:cs typeface="Calibri"/>
                <a:sym typeface="Calibri"/>
              </a:rPr>
              <a:t>Réel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6035040" y="1874520"/>
            <a:ext cx="1325880" cy="731520"/>
          </a:xfrm>
          <a:prstGeom prst="rect">
            <a:avLst/>
          </a:prstGeom>
          <a:solidFill>
            <a:srgbClr val="2E7DB5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6035040" y="19019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TN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603504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7406640" y="1874520"/>
            <a:ext cx="1325880" cy="7315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7406640" y="19019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 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7406640" y="214884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6035040" y="2633472"/>
            <a:ext cx="1325880" cy="731520"/>
          </a:xfrm>
          <a:prstGeom prst="rect">
            <a:avLst/>
          </a:prstGeom>
          <a:solidFill>
            <a:srgbClr val="1A3A5C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6035040" y="266090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FN 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6035040" y="290779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7406640" y="2633472"/>
            <a:ext cx="1325880" cy="731520"/>
          </a:xfrm>
          <a:prstGeom prst="rect">
            <a:avLst/>
          </a:prstGeom>
          <a:solidFill>
            <a:srgbClr val="2E7DB5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7406640" y="2660904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7406640" y="290779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5486400" y="3429000"/>
            <a:ext cx="3337560" cy="1481328"/>
          </a:xfrm>
          <a:prstGeom prst="rect">
            <a:avLst/>
          </a:prstGeom>
          <a:solidFill>
            <a:srgbClr val="1E5080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5577840" y="347472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Lecture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5577840" y="3767328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TN=224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6464808" y="376732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Non dist. correctement détectés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5577840" y="403250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TP=811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6464808" y="403250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Distribués correctement détectés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5577840" y="4297680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FP=111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6464808" y="42976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Non dist. prédits comme distribués 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5577840" y="456285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FN=65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6464808" y="456285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Distribués prédits comme non dist. 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274320" y="3767328"/>
            <a:ext cx="5029200" cy="1170432"/>
          </a:xfrm>
          <a:prstGeom prst="rect">
            <a:avLst/>
          </a:prstGeom>
          <a:solidFill>
            <a:srgbClr val="1E5080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7"/>
          <p:cNvSpPr/>
          <p:nvPr/>
        </p:nvSpPr>
        <p:spPr>
          <a:xfrm>
            <a:off x="274320" y="3767328"/>
            <a:ext cx="5029200" cy="6400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"/>
          <p:cNvSpPr/>
          <p:nvPr/>
        </p:nvSpPr>
        <p:spPr>
          <a:xfrm>
            <a:off x="411480" y="3840480"/>
            <a:ext cx="4754880" cy="384048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🏆  Meilleur modèle : XGBoost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411480" y="4206240"/>
            <a:ext cx="4754880" cy="594360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F1-Score Macro = 0.81  •  AUC-ROC = 0.891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Moins de FN (65) → meilleur équilibre entre les 2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274320" y="164592"/>
            <a:ext cx="8595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— Interprétation SHAP — Vrais noms des features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8"/>
          <p:cNvGraphicFramePr/>
          <p:nvPr/>
        </p:nvGraphicFramePr>
        <p:xfrm>
          <a:off x="274320" y="1170432"/>
          <a:ext cx="5029200" cy="37490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52" name="Google Shape;352;p8"/>
          <p:cNvSpPr/>
          <p:nvPr/>
        </p:nvSpPr>
        <p:spPr>
          <a:xfrm>
            <a:off x="5486400" y="1170432"/>
            <a:ext cx="3337560" cy="438912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5532120" y="1170432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SHAP = pourquoi cette prédiction 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5486400" y="1700784"/>
            <a:ext cx="3337560" cy="420624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5559552" y="1719072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anciennete_amm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7699248" y="1737360"/>
            <a:ext cx="320040" cy="32004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7699248" y="1737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5559552" y="1947672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Ancienneté élevée → distribué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5486400" y="2176272"/>
            <a:ext cx="3337560" cy="420624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5559552" y="219456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laboratoire_enc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7699248" y="2212848"/>
            <a:ext cx="320040" cy="32004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7699248" y="22128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559552" y="2423160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Certains labos distribuent mieux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486400" y="2651760"/>
            <a:ext cx="3337560" cy="420624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5559552" y="267004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forme_enc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7699248" y="2688336"/>
            <a:ext cx="320040" cy="32004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7699248" y="268833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5559552" y="2898648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Forme pharmaceutique discriminante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486400" y="3127248"/>
            <a:ext cx="3337560" cy="420624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5559552" y="314553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veic_enc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7699248" y="3163824"/>
            <a:ext cx="320040" cy="32004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7699248" y="31638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5559552" y="3374136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VEIC Essentiel → favorise distribution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5486400" y="3602736"/>
            <a:ext cx="3337560" cy="420624"/>
          </a:xfrm>
          <a:prstGeom prst="rect">
            <a:avLst/>
          </a:prstGeom>
          <a:solidFill>
            <a:srgbClr val="1E5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5559552" y="3621024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dci_enc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7699248" y="3639312"/>
            <a:ext cx="320040" cy="32004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7699248" y="36393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5559552" y="3849624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La molécule influence beaucoup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5486400" y="4078224"/>
            <a:ext cx="3337560" cy="42062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5559552" y="4096512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est_injectable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7699248" y="4114800"/>
            <a:ext cx="320040" cy="32004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7699248" y="41148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5559552" y="4325112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Injectable → défavorable (hôpital)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5486400" y="4553712"/>
            <a:ext cx="3337560" cy="420624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5559552" y="45720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vital_et_injectable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7699248" y="4590288"/>
            <a:ext cx="320040" cy="320040"/>
          </a:xfrm>
          <a:prstGeom prst="ellipse">
            <a:avLst/>
          </a:prstGeom>
          <a:solidFill>
            <a:srgbClr val="0A162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7699248" y="45902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5559552" y="4800600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DF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6EDF9"/>
                </a:solidFill>
                <a:latin typeface="Calibri"/>
                <a:ea typeface="Calibri"/>
                <a:cs typeface="Calibri"/>
                <a:sym typeface="Calibri"/>
              </a:rPr>
              <a:t>Vital+injectable → très défavorable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2026-04-13T17:24:00Z</dcterms:created>
  <dc:creator>PptxGenJS</dc:creator>
</cp:coreProperties>
</file>